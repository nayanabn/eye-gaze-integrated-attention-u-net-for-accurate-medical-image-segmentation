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MT Bold" charset="1" panose="02030802070405020303"/>
      <p:regular r:id="rId22"/>
    </p:embeddedFont>
    <p:embeddedFont>
      <p:font typeface="Arial MT Pro Bold" charset="1" panose="020B0802020202020204"/>
      <p:regular r:id="rId23"/>
    </p:embeddedFont>
    <p:embeddedFont>
      <p:font typeface="Arial MT Pro" charset="1" panose="020B0502020202020204"/>
      <p:regular r:id="rId24"/>
    </p:embeddedFont>
    <p:embeddedFont>
      <p:font typeface="Times New Roman MT" charset="1" panose="02030502070405020303"/>
      <p:regular r:id="rId26"/>
    </p:embeddedFont>
    <p:embeddedFont>
      <p:font typeface="Times New Roman Bold" charset="1" panose="02020803070505020304"/>
      <p:regular r:id="rId34"/>
    </p:embeddedFont>
    <p:embeddedFont>
      <p:font typeface="Canva Sans" charset="1" panose="020B05030305010401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1" y="751690"/>
            <a:ext cx="15544800" cy="3180085"/>
            <a:chOff x="0" y="0"/>
            <a:chExt cx="20726400" cy="4240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240113"/>
            </a:xfrm>
            <a:custGeom>
              <a:avLst/>
              <a:gdLst/>
              <a:ahLst/>
              <a:cxnLst/>
              <a:rect r="r" b="b" t="t" l="l"/>
              <a:pathLst>
                <a:path h="4240113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240113"/>
                  </a:lnTo>
                  <a:lnTo>
                    <a:pt x="0" y="42401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0726400" cy="43258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59"/>
                </a:lnSpc>
              </a:pPr>
              <a:r>
                <a:rPr lang="en-US" b="true" sz="4299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Eye</a:t>
              </a:r>
              <a:r>
                <a:rPr lang="en-US" b="true" sz="4299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-Gaze Integrated Attention U-Net for Accurate Medical Image Segmentation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71732" y="2996910"/>
            <a:ext cx="454453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b="true" sz="2999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Batch Number: CDV_20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1915" y="3865100"/>
            <a:ext cx="7967385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</a:pPr>
            <a:r>
              <a:rPr lang="en-US" b="true" sz="3159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Under the Supervision of,</a:t>
            </a:r>
          </a:p>
          <a:p>
            <a:pPr algn="ctr">
              <a:lnSpc>
                <a:spcPts val="3614"/>
              </a:lnSpc>
            </a:pPr>
          </a:p>
          <a:p>
            <a:pPr algn="ctr">
              <a:lnSpc>
                <a:spcPts val="3614"/>
              </a:lnSpc>
            </a:pPr>
            <a:r>
              <a:rPr lang="en-US" b="true" sz="301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Ms. Meena kumari K S</a:t>
            </a:r>
          </a:p>
          <a:p>
            <a:pPr algn="ctr">
              <a:lnSpc>
                <a:spcPts val="3614"/>
              </a:lnSpc>
            </a:pPr>
            <a:r>
              <a:rPr lang="en-US" b="true" sz="301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Assistant Professor</a:t>
            </a:r>
          </a:p>
          <a:p>
            <a:pPr algn="ctr">
              <a:lnSpc>
                <a:spcPts val="3614"/>
              </a:lnSpc>
            </a:pPr>
            <a:r>
              <a:rPr lang="en-US" b="true" sz="301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School of Computer Science and Engineering</a:t>
            </a:r>
          </a:p>
          <a:p>
            <a:pPr algn="ctr">
              <a:lnSpc>
                <a:spcPts val="3614"/>
              </a:lnSpc>
            </a:pPr>
            <a:r>
              <a:rPr lang="en-US" b="true" sz="3011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Presidency University</a:t>
            </a:r>
          </a:p>
          <a:p>
            <a:pPr algn="ctr">
              <a:lnSpc>
                <a:spcPts val="3614"/>
              </a:lnSpc>
            </a:pP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830021" y="4082760"/>
          <a:ext cx="8115300" cy="2886075"/>
        </p:xfrm>
        <a:graphic>
          <a:graphicData uri="http://schemas.openxmlformats.org/drawingml/2006/table">
            <a:tbl>
              <a:tblPr/>
              <a:tblGrid>
                <a:gridCol w="3129137"/>
                <a:gridCol w="4986163"/>
              </a:tblGrid>
              <a:tr h="7215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17365D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Roll Number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b="true" sz="2700">
                          <a:solidFill>
                            <a:srgbClr val="17365D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Student Name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5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20221CDV0042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</a:t>
                      </a: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ahima Dorcas Pereira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5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20221CDV0043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Nayana B N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5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20221CDV0045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Tushar L G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5111195" y="193211"/>
            <a:ext cx="806561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17365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CSE7101- Capstone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1865" y="7291599"/>
            <a:ext cx="11501745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Program: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Devops</a:t>
            </a:r>
          </a:p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HoD: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Pravintharaja S</a:t>
            </a:r>
          </a:p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Program Project Coordinator: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H M Manjula</a:t>
            </a:r>
          </a:p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4F81B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 of the School Project Coordinators: </a:t>
            </a:r>
            <a:r>
              <a:rPr lang="en-US" b="true" sz="27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Sampath A K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6864"/>
            <a:chOff x="0" y="0"/>
            <a:chExt cx="21336000" cy="1089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9152"/>
            </a:xfrm>
            <a:custGeom>
              <a:avLst/>
              <a:gdLst/>
              <a:ahLst/>
              <a:cxnLst/>
              <a:rect r="r" b="b" t="t" l="l"/>
              <a:pathLst>
                <a:path h="108915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 Number: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0625" y="1541127"/>
            <a:ext cx="15819150" cy="225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7"/>
              </a:lnSpc>
            </a:pPr>
            <a:r>
              <a:rPr lang="en-US" sz="3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Organization: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AICTE, MIC-Student Innovation</a:t>
            </a:r>
          </a:p>
          <a:p>
            <a:pPr algn="just">
              <a:lnSpc>
                <a:spcPts val="5867"/>
              </a:lnSpc>
            </a:pPr>
            <a:r>
              <a:rPr lang="en-US" sz="3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Category :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Software</a:t>
            </a:r>
          </a:p>
          <a:p>
            <a:pPr algn="just">
              <a:lnSpc>
                <a:spcPts val="5867"/>
              </a:lnSpc>
            </a:pPr>
            <a:r>
              <a:rPr lang="en-US" sz="36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Description: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8839" y="4040105"/>
            <a:ext cx="14490936" cy="463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4"/>
              </a:lnSpc>
            </a:pPr>
            <a:r>
              <a:rPr lang="en-US" sz="33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Med</a:t>
            </a:r>
            <a:r>
              <a:rPr lang="en-US" sz="33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ical image segmentation is crucial for detecting diseases like breast cancer. But existing AI models struggle due to:</a:t>
            </a:r>
          </a:p>
          <a:p>
            <a:pPr algn="just">
              <a:lnSpc>
                <a:spcPts val="4024"/>
              </a:lnSpc>
            </a:pPr>
          </a:p>
          <a:p>
            <a:pPr algn="just" marL="724122" indent="-362061" lvl="1">
              <a:lnSpc>
                <a:spcPts val="6305"/>
              </a:lnSpc>
              <a:buFont typeface="Arial"/>
              <a:buChar char="•"/>
            </a:pPr>
            <a:r>
              <a:rPr lang="en-US" sz="33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Limited annotated medical datasets.</a:t>
            </a:r>
          </a:p>
          <a:p>
            <a:pPr algn="just" marL="724122" indent="-362061" lvl="1">
              <a:lnSpc>
                <a:spcPts val="6305"/>
              </a:lnSpc>
              <a:buFont typeface="Arial"/>
              <a:buChar char="•"/>
            </a:pPr>
            <a:r>
              <a:rPr lang="en-US" sz="33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Large variation in lesion sizes (tiny calcifications vs. large masses).</a:t>
            </a:r>
          </a:p>
          <a:p>
            <a:pPr algn="just" marL="724122" indent="-362061" lvl="1">
              <a:lnSpc>
                <a:spcPts val="6305"/>
              </a:lnSpc>
              <a:buFont typeface="Arial"/>
              <a:buChar char="•"/>
            </a:pPr>
            <a:r>
              <a:rPr lang="en-US" sz="335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annotation cost for radiologists.</a:t>
            </a:r>
          </a:p>
          <a:p>
            <a:pPr algn="just">
              <a:lnSpc>
                <a:spcPts val="630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6864"/>
            <a:chOff x="0" y="0"/>
            <a:chExt cx="21336000" cy="1089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9152"/>
            </a:xfrm>
            <a:custGeom>
              <a:avLst/>
              <a:gdLst/>
              <a:ahLst/>
              <a:cxnLst/>
              <a:rect r="r" b="b" t="t" l="l"/>
              <a:pathLst>
                <a:path h="108915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Content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75098" y="1968884"/>
            <a:ext cx="15819150" cy="857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Statement</a:t>
            </a:r>
          </a:p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Objectives</a:t>
            </a:r>
          </a:p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 and Related work for title Selection</a:t>
            </a:r>
          </a:p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Analysis of Problem Statement</a:t>
            </a:r>
          </a:p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Innovation or Novel Contributions</a:t>
            </a:r>
          </a:p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Git-hub Link</a:t>
            </a:r>
          </a:p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Timeline of the Project</a:t>
            </a:r>
          </a:p>
          <a:p>
            <a:pPr algn="just" marL="874835" indent="-437417" lvl="1">
              <a:lnSpc>
                <a:spcPts val="6182"/>
              </a:lnSpc>
              <a:buFont typeface="Arial"/>
              <a:buChar char="•"/>
            </a:pPr>
            <a:r>
              <a:rPr lang="en-US" sz="321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</a:t>
            </a:r>
          </a:p>
          <a:p>
            <a:pPr algn="just" marL="874835" indent="-437417" lvl="1">
              <a:lnSpc>
                <a:spcPts val="6182"/>
              </a:lnSpc>
            </a:pPr>
          </a:p>
          <a:p>
            <a:pPr algn="just" marL="874835" indent="-437417" lvl="1">
              <a:lnSpc>
                <a:spcPts val="6182"/>
              </a:lnSpc>
            </a:pPr>
          </a:p>
          <a:p>
            <a:pPr algn="just" marL="874835" indent="-437417" lvl="1">
              <a:lnSpc>
                <a:spcPts val="618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4959"/>
            <a:chOff x="0" y="0"/>
            <a:chExt cx="21336000" cy="1086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6612"/>
            </a:xfrm>
            <a:custGeom>
              <a:avLst/>
              <a:gdLst/>
              <a:ahLst/>
              <a:cxnLst/>
              <a:rect r="r" b="b" t="t" l="l"/>
              <a:pathLst>
                <a:path h="10866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19200" y="3375681"/>
            <a:ext cx="13506842" cy="5611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63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evelop a deep learning model that integrates eye-tracking data as weak supervision.</a:t>
            </a:r>
          </a:p>
          <a:p>
            <a:pPr algn="just" marL="777240" indent="-388620" lvl="1">
              <a:lnSpc>
                <a:spcPts val="63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 segmentation accuracy for both small and large lesions.</a:t>
            </a:r>
          </a:p>
          <a:p>
            <a:pPr algn="just" marL="777240" indent="-388620" lvl="1">
              <a:lnSpc>
                <a:spcPts val="63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 a preprocessing pipeline for gaze data collection and attention mapping.</a:t>
            </a:r>
          </a:p>
          <a:p>
            <a:pPr algn="just" marL="777240" indent="-388620" lvl="1">
              <a:lnSpc>
                <a:spcPts val="63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Evaluate robustness under limited data and noisy gaze inputs.</a:t>
            </a:r>
          </a:p>
          <a:p>
            <a:pPr algn="just">
              <a:lnSpc>
                <a:spcPts val="63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1946761"/>
            <a:ext cx="3294386" cy="89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39"/>
              </a:lnSpc>
            </a:pP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4959"/>
            <a:chOff x="0" y="0"/>
            <a:chExt cx="21336000" cy="1086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6612"/>
            </a:xfrm>
            <a:custGeom>
              <a:avLst/>
              <a:gdLst/>
              <a:ahLst/>
              <a:cxnLst/>
              <a:rect r="r" b="b" t="t" l="l"/>
              <a:pathLst>
                <a:path h="10866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76337" y="2852568"/>
            <a:ext cx="15910870" cy="613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92"/>
              </a:lnSpc>
            </a:pPr>
          </a:p>
          <a:p>
            <a:pPr algn="just" marL="777240" indent="-388620" lvl="1">
              <a:lnSpc>
                <a:spcPts val="7523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U-Net &amp; Variants (UNet++, Attention U-Net, TransUNet) → Strong baselines for medical segmentation.</a:t>
            </a:r>
          </a:p>
          <a:p>
            <a:pPr algn="just" marL="777240" indent="-388620" lvl="1">
              <a:lnSpc>
                <a:spcPts val="7523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Eye-tracking in radiology → Shows where experts focus during diagnosis.</a:t>
            </a:r>
          </a:p>
          <a:p>
            <a:pPr algn="just" marL="777240" indent="-388620" lvl="1">
              <a:lnSpc>
                <a:spcPts val="7523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ior work like Gaze2Segment treated gaze as an annotation, but your project integrates gaze directly into training, making it more adaptable.</a:t>
            </a:r>
          </a:p>
          <a:p>
            <a:pPr algn="just">
              <a:lnSpc>
                <a:spcPts val="52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76337" y="1960945"/>
            <a:ext cx="6947016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Background and Related Work: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4959"/>
            <a:chOff x="0" y="0"/>
            <a:chExt cx="21336000" cy="1086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6612"/>
            </a:xfrm>
            <a:custGeom>
              <a:avLst/>
              <a:gdLst/>
              <a:ahLst/>
              <a:cxnLst/>
              <a:rect r="r" b="b" t="t" l="l"/>
              <a:pathLst>
                <a:path h="10866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0625" y="1343025"/>
            <a:ext cx="1581915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Technology Stack Components: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3829" y="2073036"/>
            <a:ext cx="13415123" cy="38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Programming: Python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</a:t>
            </a: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rameworks: PyTorch / TensorFlow, OpenCV, NumPy, Pandas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Visualization: Matplotlib, Seaborn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Version Control: Git, GitHub</a:t>
            </a:r>
          </a:p>
          <a:p>
            <a:pPr algn="just">
              <a:lnSpc>
                <a:spcPts val="50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0625" y="6045357"/>
            <a:ext cx="15819150" cy="337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92"/>
              </a:lnSpc>
            </a:pPr>
          </a:p>
          <a:p>
            <a:pPr algn="just" marL="777240" indent="-388620" lvl="1">
              <a:lnSpc>
                <a:spcPts val="5292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Hardware: A standard laptop or desktop computer with a webcam (720p or higher recommended).</a:t>
            </a:r>
          </a:p>
          <a:p>
            <a:pPr algn="just" marL="777240" indent="-388620" lvl="1">
              <a:lnSpc>
                <a:spcPts val="5292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Software: Python, PyTorch/TensorFlow, OpenCV, CUDA.</a:t>
            </a:r>
          </a:p>
          <a:p>
            <a:pPr algn="just">
              <a:lnSpc>
                <a:spcPts val="529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10625" y="5772546"/>
            <a:ext cx="1581915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Soft</a:t>
            </a: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ware and Hardware Requirements: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4959"/>
            <a:chOff x="0" y="0"/>
            <a:chExt cx="21336000" cy="1086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6612"/>
            </a:xfrm>
            <a:custGeom>
              <a:avLst/>
              <a:gdLst/>
              <a:ahLst/>
              <a:cxnLst/>
              <a:rect r="r" b="b" t="t" l="l"/>
              <a:pathLst>
                <a:path h="10866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46960" y="3328573"/>
            <a:ext cx="15194079" cy="5266475"/>
          </a:xfrm>
          <a:custGeom>
            <a:avLst/>
            <a:gdLst/>
            <a:ahLst/>
            <a:cxnLst/>
            <a:rect r="r" b="b" t="t" l="l"/>
            <a:pathLst>
              <a:path h="5266475" w="15194079">
                <a:moveTo>
                  <a:pt x="0" y="0"/>
                </a:moveTo>
                <a:lnTo>
                  <a:pt x="15194080" y="0"/>
                </a:lnTo>
                <a:lnTo>
                  <a:pt x="15194080" y="5266475"/>
                </a:lnTo>
                <a:lnTo>
                  <a:pt x="0" y="5266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331" r="0" b="-3995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38156" y="1901507"/>
            <a:ext cx="581168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Architecture Diagram: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4959"/>
            <a:chOff x="0" y="0"/>
            <a:chExt cx="21336000" cy="1086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6612"/>
            </a:xfrm>
            <a:custGeom>
              <a:avLst/>
              <a:gdLst/>
              <a:ahLst/>
              <a:cxnLst/>
              <a:rect r="r" b="b" t="t" l="l"/>
              <a:pathLst>
                <a:path h="10866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274942" y="1828800"/>
            <a:ext cx="5435376" cy="8158163"/>
          </a:xfrm>
          <a:custGeom>
            <a:avLst/>
            <a:gdLst/>
            <a:ahLst/>
            <a:cxnLst/>
            <a:rect r="r" b="b" t="t" l="l"/>
            <a:pathLst>
              <a:path h="8158163" w="5435376">
                <a:moveTo>
                  <a:pt x="0" y="0"/>
                </a:moveTo>
                <a:lnTo>
                  <a:pt x="5435376" y="0"/>
                </a:lnTo>
                <a:lnTo>
                  <a:pt x="5435376" y="8158163"/>
                </a:lnTo>
                <a:lnTo>
                  <a:pt x="0" y="8158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01495" y="1752600"/>
            <a:ext cx="290449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Flow Chart: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4959"/>
            <a:chOff x="0" y="0"/>
            <a:chExt cx="21336000" cy="1086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6612"/>
            </a:xfrm>
            <a:custGeom>
              <a:avLst/>
              <a:gdLst/>
              <a:ahLst/>
              <a:cxnLst/>
              <a:rect r="r" b="b" t="t" l="l"/>
              <a:pathLst>
                <a:path h="10866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of Problem Statement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01495" y="1752600"/>
            <a:ext cx="290449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b="true" sz="3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12082" y="1828800"/>
            <a:ext cx="9434731" cy="7270283"/>
            <a:chOff x="0" y="0"/>
            <a:chExt cx="12579641" cy="969371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579641" cy="9693711"/>
              <a:chOff x="0" y="0"/>
              <a:chExt cx="1088748" cy="8389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8748" cy="838975"/>
              </a:xfrm>
              <a:custGeom>
                <a:avLst/>
                <a:gdLst/>
                <a:ahLst/>
                <a:cxnLst/>
                <a:rect r="r" b="b" t="t" l="l"/>
                <a:pathLst>
                  <a:path h="838975" w="1088748">
                    <a:moveTo>
                      <a:pt x="0" y="0"/>
                    </a:moveTo>
                    <a:lnTo>
                      <a:pt x="1088748" y="0"/>
                    </a:lnTo>
                    <a:lnTo>
                      <a:pt x="1088748" y="838975"/>
                    </a:lnTo>
                    <a:lnTo>
                      <a:pt x="0" y="8389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47625"/>
                <a:ext cx="1088748" cy="791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3726" y="49387"/>
              <a:ext cx="11952188" cy="9556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Initialize the trained Gaze-Guided Attention</a:t>
              </a: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U-Net model M.</a:t>
              </a:r>
            </a:p>
            <a:p>
              <a:pPr algn="just">
                <a:lnSpc>
                  <a:spcPts val="2861"/>
                </a:lnSpc>
              </a:pP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</a:t>
              </a: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nctio</a:t>
              </a: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 SegmentImage(image_file):</a:t>
              </a: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// 1. Data Acquisition</a:t>
              </a: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img_us ← Load and preprocess(image_file)</a:t>
              </a:r>
            </a:p>
            <a:p>
              <a:pPr algn="just">
                <a:lnSpc>
                  <a:spcPts val="2861"/>
                </a:lnSpc>
              </a:pP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// Generate gaze map (example using proxy)</a:t>
              </a: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img_gaze ← GenerateGradCAMProxy(img_us, M) </a:t>
              </a:r>
            </a:p>
            <a:p>
              <a:pPr algn="just">
                <a:lnSpc>
                  <a:spcPts val="2861"/>
                </a:lnSpc>
              </a:pP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// 2. Two-Channel Fusion</a:t>
              </a: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input_tensor ← Concatenate([img_us, img_gaze])</a:t>
              </a:r>
            </a:p>
            <a:p>
              <a:pPr algn="just">
                <a:lnSpc>
                  <a:spcPts val="2861"/>
                </a:lnSpc>
              </a:pP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// 3. Segmentation Intelligence</a:t>
              </a: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predicted_mask ← M.predict(input_tensor)</a:t>
              </a:r>
            </a:p>
            <a:p>
              <a:pPr algn="just">
                <a:lnSpc>
                  <a:spcPts val="2861"/>
                </a:lnSpc>
              </a:pP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// 4. Visualization</a:t>
              </a:r>
            </a:p>
            <a:p>
              <a:pPr algn="just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heatmap ← GenerateGradCAMVisualization(img_us, M)</a:t>
              </a:r>
            </a:p>
            <a:p>
              <a:pPr algn="just">
                <a:lnSpc>
                  <a:spcPts val="2861"/>
                </a:lnSpc>
              </a:pPr>
            </a:p>
            <a:p>
              <a:pPr algn="l">
                <a:lnSpc>
                  <a:spcPts val="2861"/>
                </a:lnSpc>
              </a:pP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// 5. Feedback to Deployment Layer.|human|&gt;|human|&gt;|human|&gt;|human|&gt;predictmask, heatmap. end</a:t>
              </a:r>
              <a:r>
                <a:rPr lang="en-US" b="true" sz="2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function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4959"/>
            <a:chOff x="0" y="0"/>
            <a:chExt cx="21336000" cy="10866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6612"/>
            </a:xfrm>
            <a:custGeom>
              <a:avLst/>
              <a:gdLst/>
              <a:ahLst/>
              <a:cxnLst/>
              <a:rect r="r" b="b" t="t" l="l"/>
              <a:pathLst>
                <a:path h="10866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6612"/>
                  </a:lnTo>
                  <a:lnTo>
                    <a:pt x="0" y="1086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61975"/>
              <a:ext cx="21336000" cy="1648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Github Link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623900" y="4898818"/>
            <a:ext cx="9040199" cy="4359482"/>
          </a:xfrm>
          <a:custGeom>
            <a:avLst/>
            <a:gdLst/>
            <a:ahLst/>
            <a:cxnLst/>
            <a:rect r="r" b="b" t="t" l="l"/>
            <a:pathLst>
              <a:path h="4359482" w="9040199">
                <a:moveTo>
                  <a:pt x="0" y="0"/>
                </a:moveTo>
                <a:lnTo>
                  <a:pt x="9040200" y="0"/>
                </a:lnTo>
                <a:lnTo>
                  <a:pt x="9040200" y="4359482"/>
                </a:lnTo>
                <a:lnTo>
                  <a:pt x="0" y="4359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44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4426" y="1452562"/>
            <a:ext cx="1581915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Github link provided should have public access permission.</a:t>
            </a:r>
          </a:p>
          <a:p>
            <a:pPr algn="just">
              <a:lnSpc>
                <a:spcPts val="4320"/>
              </a:lnSpc>
            </a:pPr>
          </a:p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95373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Github Link:</a:t>
            </a:r>
          </a:p>
          <a:p>
            <a:pPr algn="just">
              <a:lnSpc>
                <a:spcPts val="4320"/>
              </a:lnSpc>
            </a:pPr>
          </a:p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95373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https://github.com/NayanaBN/Eye-Gaze-Integrated-Attention-U-Net-for-Accurate-Medical-Image-Segmentation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6864"/>
            <a:chOff x="0" y="0"/>
            <a:chExt cx="21336000" cy="1089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9152"/>
            </a:xfrm>
            <a:custGeom>
              <a:avLst/>
              <a:gdLst/>
              <a:ahLst/>
              <a:cxnLst/>
              <a:rect r="r" b="b" t="t" l="l"/>
              <a:pathLst>
                <a:path h="108915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Timeline of the Project (Gantt Chart)</a:t>
              </a: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2639308" y="1669516"/>
          <a:ext cx="8382000" cy="8382000"/>
        </p:xfrm>
        <a:graphic>
          <a:graphicData uri="http://schemas.openxmlformats.org/presentationml/2006/ole">
            <p:oleObj imgW="10058400" imgH="10058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6864"/>
            <a:chOff x="0" y="0"/>
            <a:chExt cx="21336000" cy="1089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9152"/>
            </a:xfrm>
            <a:custGeom>
              <a:avLst/>
              <a:gdLst/>
              <a:ahLst/>
              <a:cxnLst/>
              <a:rect r="r" b="b" t="t" l="l"/>
              <a:pathLst>
                <a:path h="108915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Results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322339" y="1673641"/>
            <a:ext cx="6069233" cy="3413944"/>
          </a:xfrm>
          <a:custGeom>
            <a:avLst/>
            <a:gdLst/>
            <a:ahLst/>
            <a:cxnLst/>
            <a:rect r="r" b="b" t="t" l="l"/>
            <a:pathLst>
              <a:path h="3413944" w="6069233">
                <a:moveTo>
                  <a:pt x="0" y="0"/>
                </a:moveTo>
                <a:lnTo>
                  <a:pt x="6069234" y="0"/>
                </a:lnTo>
                <a:lnTo>
                  <a:pt x="6069234" y="3413944"/>
                </a:lnTo>
                <a:lnTo>
                  <a:pt x="0" y="3413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49762" y="5715809"/>
            <a:ext cx="5936725" cy="3339408"/>
          </a:xfrm>
          <a:custGeom>
            <a:avLst/>
            <a:gdLst/>
            <a:ahLst/>
            <a:cxnLst/>
            <a:rect r="r" b="b" t="t" l="l"/>
            <a:pathLst>
              <a:path h="3339408" w="5936725">
                <a:moveTo>
                  <a:pt x="0" y="0"/>
                </a:moveTo>
                <a:lnTo>
                  <a:pt x="5936725" y="0"/>
                </a:lnTo>
                <a:lnTo>
                  <a:pt x="5936725" y="3339407"/>
                </a:lnTo>
                <a:lnTo>
                  <a:pt x="0" y="3339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454848" y="5715809"/>
            <a:ext cx="5936725" cy="3339408"/>
          </a:xfrm>
          <a:custGeom>
            <a:avLst/>
            <a:gdLst/>
            <a:ahLst/>
            <a:cxnLst/>
            <a:rect r="r" b="b" t="t" l="l"/>
            <a:pathLst>
              <a:path h="3339408" w="5936725">
                <a:moveTo>
                  <a:pt x="0" y="0"/>
                </a:moveTo>
                <a:lnTo>
                  <a:pt x="5936725" y="0"/>
                </a:lnTo>
                <a:lnTo>
                  <a:pt x="5936725" y="3339407"/>
                </a:lnTo>
                <a:lnTo>
                  <a:pt x="0" y="33394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49762" y="1673641"/>
            <a:ext cx="5936725" cy="3339408"/>
          </a:xfrm>
          <a:custGeom>
            <a:avLst/>
            <a:gdLst/>
            <a:ahLst/>
            <a:cxnLst/>
            <a:rect r="r" b="b" t="t" l="l"/>
            <a:pathLst>
              <a:path h="3339408" w="5936725">
                <a:moveTo>
                  <a:pt x="0" y="0"/>
                </a:moveTo>
                <a:lnTo>
                  <a:pt x="5936725" y="0"/>
                </a:lnTo>
                <a:lnTo>
                  <a:pt x="5936725" y="3339408"/>
                </a:lnTo>
                <a:lnTo>
                  <a:pt x="0" y="33394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27388" y="5095875"/>
            <a:ext cx="2781472" cy="4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29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fig.1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53649" y="5095875"/>
            <a:ext cx="3423655" cy="4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29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fig.2 Image Reading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02101" y="9083791"/>
            <a:ext cx="2474228" cy="4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29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fig.3 Heatmap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0556" y="9140941"/>
            <a:ext cx="3629841" cy="4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29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fig.4 Develpoer View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318">
            <a:off x="1176223" y="1352550"/>
            <a:ext cx="16087953" cy="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0" y="8987049"/>
            <a:ext cx="18288002" cy="1299949"/>
            <a:chOff x="0" y="0"/>
            <a:chExt cx="24384002" cy="173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33296"/>
            </a:xfrm>
            <a:custGeom>
              <a:avLst/>
              <a:gdLst/>
              <a:ahLst/>
              <a:cxnLst/>
              <a:rect r="r" b="b" t="t" l="l"/>
              <a:pathLst>
                <a:path h="173329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33296"/>
                  </a:lnTo>
                  <a:lnTo>
                    <a:pt x="0" y="1733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7106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411957"/>
            <a:ext cx="16002000" cy="816864"/>
            <a:chOff x="0" y="0"/>
            <a:chExt cx="21336000" cy="10891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36000" cy="1089152"/>
            </a:xfrm>
            <a:custGeom>
              <a:avLst/>
              <a:gdLst/>
              <a:ahLst/>
              <a:cxnLst/>
              <a:rect r="r" b="b" t="t" l="l"/>
              <a:pathLst>
                <a:path h="108915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89152"/>
                  </a:lnTo>
                  <a:lnTo>
                    <a:pt x="0" y="10891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336000" cy="1174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7365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References (IEEE Paper format)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66372" y="2170191"/>
            <a:ext cx="15774399" cy="681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902" spc="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</a:t>
            </a:r>
            <a:r>
              <a:rPr lang="en-US" sz="2902" spc="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Xie et al., “Integrating Eye Tracking With Grouped Fusion Networks for Semantic Segmentation on Mammogram Images,” IEEE Transactions on Medical Imaging, vol. 44, no. 2, pp. 868–879, Feb. 2025.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  <a:r>
              <a:rPr lang="en-US" sz="2902" spc="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A. Joshi and K. K. Sharma, “Dense Deep Transformer for Medical Image Segmentation: DDTraMIS,” Multimedia Tools and Applications, vol. 83, pp. 18073–18089, Feb. 2024.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  <a:r>
              <a:rPr lang="en-US" sz="2902" spc="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I. Pacal, M. Alaftekin, and F. D. Zengul, “Enhancing Skin Cancer Diagnosis Using Swin Transformer with Hybrid Shifted Window-Based Multi-head Self-attention and SwiGLU-Based MLP,” Journal of Imaging Informatics in Medicine, vol. 37, pp. 3174–3192, Dec. 2024.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  <a:r>
              <a:rPr lang="en-US" sz="2902" spc="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Y. Cai, Y. Long, Z. Han et al., “Swin Unet3D: a Three-Dimensional Medical Image Segmentation Network Combining Vision Transformer and Convolution,” BMC Medical Informatics and Decision Making, vol. 23, art. no. 33, Feb. 2023.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  <a:r>
              <a:rPr lang="en-US" sz="2902" spc="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A. Joshi and K. K. Sharma, “Dense Deep Transformer for Medical Image Segmentation: DDTraMIS,” Multimedia Tools and Applications, vol. 83, pp. 18073–18089, Feb. 2024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DAG47sFINTw</dc:identifier>
  <dcterms:modified xsi:type="dcterms:W3CDTF">2011-08-01T06:04:30Z</dcterms:modified>
  <cp:revision>1</cp:revision>
  <dc:title>Eye-Gaze Integrated Attention U-Net for Accurate Medical Image Segmentation</dc:title>
</cp:coreProperties>
</file>